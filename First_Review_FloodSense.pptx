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3BC-756C-9947-D7F4-7EF02F453481}" v="8" dt="2026-07-22T11:04:40.345"/>
    <p1510:client id="{A2F7B59D-34B7-EC53-B3A4-86C845347CED}" v="1" dt="2026-07-22T10:58:13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lang="en-IN" dirty="0"/>
              <a:t/>
            </a:r>
            <a:r>
              <a:rPr dirty="0"/>
              <a:t/>
            </a:r>
            <a:r>
              <a:rPr sz="2200" b="1">
                <a:solidFill>
                  <a:srgbClr val="141450"/>
                </a:solidFill>
              </a:rPr>
              <a:t>FloodSense: A Multi-Model Framework</a:t>
            </a:r>
          </a:p>
          <a:p>
            <a:pPr algn="l"/>
            <a:r>
              <a:rPr sz="2200" b="1">
                <a:solidFill>
                  <a:srgbClr val="141450"/>
                </a:solidFill>
              </a:rPr>
              <a:t>with RAG-LLM System for Automated Flood Reporting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7936992" cy="224028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/>
              <a:t>Student Details:</a:t>
            </a:r>
          </a:p>
          <a:p>
            <a:r>
              <a:rPr dirty="0"/>
              <a:t>1. Name – Reg No.</a:t>
            </a:r>
          </a:p>
          <a:p>
            <a:r>
              <a:rPr dirty="0"/>
              <a:t>2. Name – Reg No.</a:t>
            </a:r>
          </a:p>
          <a:p>
            <a:r>
              <a:rPr dirty="0"/>
              <a:t>3. Name – Reg No.</a:t>
            </a:r>
          </a:p>
          <a:p>
            <a:r>
              <a:rPr dirty="0"/>
              <a:t>4. Name – Reg No.</a:t>
            </a:r>
            <a:endParaRPr lang="en-IN" dirty="0"/>
          </a:p>
          <a:p>
            <a:endParaRPr lang="en-IN" dirty="0"/>
          </a:p>
          <a:p>
            <a:r>
              <a:rPr lang="en-IN" dirty="0"/>
              <a:t>Team Number: ______</a:t>
            </a:r>
          </a:p>
          <a:p>
            <a:r>
              <a:rPr lang="en-IN" dirty="0"/>
              <a:t>Supervisor: ______</a:t>
            </a:r>
          </a:p>
          <a:p>
            <a:endParaRPr dirty="0"/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65760" y="1377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/>
              <a:t>FIRST REVIEW – B.TECH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65760" y="3112389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/>
              <a:t/>
            </a:r>
            <a:r>
              <a:rPr sz="1400" b="0">
                <a:solidFill>
                  <a:srgbClr val="282828"/>
                </a:solidFill>
              </a:rPr>
              <a:t>Team No.: C-06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Varshitha Thilak Kumar – CB.SC.U4AIE23258 | Siri Sanjana S – CB.SC.U4AIE23249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Shreya Arun – CB.SC.U4AIE23253 | Anagha Menon – CB.SC.U4AIE23212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8691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/>
              <a:t/>
            </a:r>
            <a:r>
              <a:rPr sz="1500" b="0">
                <a:solidFill>
                  <a:srgbClr val="282828"/>
                </a:solidFill>
              </a:rPr>
              <a:t>Supervisor: Dr. Mithun Kumar 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01 | Project Progress Since Zeroth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14730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900"/>
            </a:pPr>
            <a:r>
              <a:rPr dirty="0"/>
              <a:t/>
            </a:r>
            <a:r>
              <a:rPr sz="1100" b="1">
                <a:solidFill>
                  <a:srgbClr val="282828"/>
                </a:solidFill>
              </a:rPr>
              <a:t>Implemented all 5 CV segmentation models: </a:t>
            </a:r>
            <a:r>
              <a:rPr sz="1100" b="0">
                <a:solidFill>
                  <a:srgbClr val="3C3C3C"/>
                </a:solidFill>
              </a:rPr>
              <a:t>Classical Thresholding, SAM, Visual LLM, Grounding DINO + SAM2, SegFormer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Extended from binary to 10-class multi-class segmentation (FloodNet classes)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Built full benchmark evaluation pipeline with IoU, F1, Dice, per-class metrics across 20 test images</a:t>
            </a:r>
          </a:p>
          <a:p>
            <a:pPr algn="l"/>
            <a:r>
              <a:rPr sz="1100" b="1">
                <a:solidFill>
                  <a:srgbClr val="282828"/>
                </a:solidFill>
              </a:rPr>
              <a:t>Developed damage extraction module: </a:t>
            </a:r>
            <a:r>
              <a:rPr sz="1100" b="0">
                <a:solidFill>
                  <a:srgbClr val="3C3C3C"/>
                </a:solidFill>
              </a:rPr>
              <a:t>flooded building/road counts, severity scoring, area estimation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Built ChromaDB RAG pipeline with 4 knowledge-base documents (NDMA, NDRF, FEMA, Historical cases)</a:t>
            </a:r>
          </a:p>
          <a:p>
            <a:pPr algn="l"/>
            <a:r>
              <a:rPr sz="1100" b="1">
                <a:solidFill>
                  <a:srgbClr val="282828"/>
                </a:solidFill>
              </a:rPr>
              <a:t>RAG evaluation: </a:t>
            </a:r>
            <a:r>
              <a:rPr sz="1100" b="0">
                <a:solidFill>
                  <a:srgbClr val="3C3C3C"/>
                </a:solidFill>
              </a:rPr>
              <a:t>MRR = 0.95, Precision@1 = 0.90, Recall@3 = 1.00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Implemented LLM synthesis engine with grounded report generation (JSON + Markdown + DOCX + PDF)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Built end-to-end Flask dashboard (image upload → segmentation → RAG → SITREP report)</a:t>
            </a:r>
          </a:p>
          <a:p>
            <a:pPr algn="l"/>
            <a:r>
              <a:rPr sz="1100" b="0">
                <a:solidFill>
                  <a:srgbClr val="323232"/>
                </a:solidFill>
              </a:rPr>
              <a:t>Deployed live on Render (render.yaml) with gunicorn production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02 | 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982712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900"/>
            </a:pPr>
            <a:r>
              <a:rPr sz="1000" b="1">
                <a:solidFill>
                  <a:srgbClr val="282828"/>
                </a:solidFill>
              </a:rPr>
              <a:t>Problem: </a:t>
            </a:r>
            <a:r>
              <a:rPr sz="1000" b="0">
                <a:solidFill>
                  <a:srgbClr val="3C3C3C"/>
                </a:solidFill>
              </a:rPr>
              <a:t>Current flood assessment systems are inadequate — text-based systems generate reports from secondary web sources without visual grounding; segmentation-only models identify flooded regions but leave severity interpretation and reporting to humans. No solution combines fine-grained flood segmentation with grounded report production.</a:t>
            </a:r>
            <a:endParaRPr lang="en-IN" dirty="0"/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Scope: </a:t>
            </a:r>
            <a:r>
              <a:rPr sz="1000" b="0">
                <a:solidFill>
                  <a:srgbClr val="3C3C3C"/>
                </a:solidFill>
              </a:rPr>
              <a:t>FloodSense is an end-to-end demo dashboard that includes automated flood-water segmentation from photos (benchmarking five CV approaches), RAG-based historical and protocol data retrieval, and structured severity reports created by LLM.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Objective 1: </a:t>
            </a:r>
            <a:r>
              <a:rPr sz="1000" b="0">
                <a:solidFill>
                  <a:srgbClr val="3C3C3C"/>
                </a:solidFill>
              </a:rPr>
              <a:t>Go beyond binary flood detection by implementing 10-class flood/damage segmentation and benchmarking 5 CV techniques with per-class F1 and IoU scores.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Objective 2: </a:t>
            </a:r>
            <a:r>
              <a:rPr sz="1000" b="0">
                <a:solidFill>
                  <a:srgbClr val="3C3C3C"/>
                </a:solidFill>
              </a:rPr>
              <a:t>Create a RAG retrieval pipeline over a knowledge base of NDMA/FEMA flood protocols and historical flood records, targeting high retrieval precision (P@1 ≥ 0.90).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Objective 3: </a:t>
            </a:r>
            <a:r>
              <a:rPr sz="1000" b="0">
                <a:solidFill>
                  <a:srgbClr val="3C3C3C"/>
                </a:solidFill>
              </a:rPr>
              <a:t>Generate structured, grounded disaster SITREPs (severity assessment, impact estimation, action recommendations) traceable to CV output and retrieved protocol clauses.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Objective 4: </a:t>
            </a:r>
            <a:r>
              <a:rPr sz="1000" b="0">
                <a:solidFill>
                  <a:srgbClr val="3C3C3C"/>
                </a:solidFill>
              </a:rPr>
              <a:t>Deliver a working end-to-end demo dashboard (image upload → structured SITREP report) suitable for lightweight field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/>
              <a:t>03 | </a:t>
            </a:r>
            <a:r>
              <a:rPr lang="en-IN" sz="2700" b="1" dirty="0"/>
              <a:t>Consolidated </a:t>
            </a:r>
            <a:r>
              <a:rPr sz="2700" b="1" dirty="0"/>
              <a:t>Literature Review &amp; </a:t>
            </a:r>
            <a:r>
              <a:rPr lang="en-IN" sz="2700" b="1" dirty="0"/>
              <a:t>Research</a:t>
            </a:r>
            <a:r>
              <a:rPr sz="2700" b="1" dirty="0"/>
              <a:t>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1">
                <a:solidFill>
                  <a:srgbClr val="282828"/>
                </a:solidFill>
              </a:rPr>
              <a:t>VLM-based: </a:t>
            </a:r>
            <a:r>
              <a:rPr sz="1000" b="0">
                <a:solidFill>
                  <a:srgbClr val="3C3C3C"/>
                </a:solidFill>
              </a:rPr>
              <a:t>DisasTeller [1] — Multi-agent LVLM + RAG for post-disaster assessment; MASA + BLIP-2 [2] — Segmentation + captioning (80.77% BLEU)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RAG-based: </a:t>
            </a:r>
            <a:r>
              <a:rPr sz="1000" b="0">
                <a:solidFill>
                  <a:srgbClr val="3C3C3C"/>
                </a:solidFill>
              </a:rPr>
              <a:t>CrisiSense-RAG [3] — Multimodal RAG for Hurricane Harvey (8.86% flood extent error); Training-free RAG [4] — Reinforced reasoning with 0.668 accuracy; RS-RAG [5] — Cross-modal satellite VQA (79% accuracy)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Segmentation: </a:t>
            </a:r>
            <a:r>
              <a:rPr sz="1000" b="0">
                <a:solidFill>
                  <a:srgbClr val="3C3C3C"/>
                </a:solidFill>
              </a:rPr>
              <a:t>Flood-DamageSense [6] — Mamba-based SAR multitask (F1 +19pp); LLMArk [7] — Instance-aware flood risk; DisasterM3 [8] — Vision-language dataset (26,988 images, 9 tasks)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Research Gap 1 — Lack of robust multi-class flood segmentation: </a:t>
            </a:r>
            <a:r>
              <a:rPr sz="1000" b="0">
                <a:solidFill>
                  <a:srgbClr val="3C3C3C"/>
                </a:solidFill>
              </a:rPr>
              <a:t>Most systems perform binary water/no-water segmentation without benchmarking across classical, foundation, and transformer-based approaches or differentiating flood water, debris, and damaged structures.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Research Gap 2 — Lack of proper report generation: </a:t>
            </a:r>
            <a:r>
              <a:rPr sz="1000" b="0">
                <a:solidFill>
                  <a:srgbClr val="3C3C3C"/>
                </a:solidFill>
              </a:rPr>
              <a:t>Systems either use standalone LLMs to generate unverifiable reports or output raw segmentation masks without interpretation. No existing work combines multi-model CV segmentation benchmarking with RAG-grounded, citation-traceable disaster report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04 | Finalized System 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Three-Stage Pipeline Architecture: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Stage 1 — Multi-Class CV Segmentation (models_benchmark/)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01_classical_thresholding.py: </a:t>
            </a:r>
            <a:r>
              <a:rPr sz="1000" b="0">
                <a:solidFill>
                  <a:srgbClr val="3C3C3C"/>
                </a:solidFill>
              </a:rPr>
              <a:t>HSV/LAB color-space thresholding with morphological ops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02_sam_segmentation.py: </a:t>
            </a:r>
            <a:r>
              <a:rPr sz="1000" b="0">
                <a:solidFill>
                  <a:srgbClr val="3C3C3C"/>
                </a:solidFill>
              </a:rPr>
              <a:t>Meta SAM with automatic mask generator + class assignment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03_visual_llm.py: </a:t>
            </a:r>
            <a:r>
              <a:rPr sz="1000" b="0">
                <a:solidFill>
                  <a:srgbClr val="3C3C3C"/>
                </a:solidFill>
              </a:rPr>
              <a:t>Vision-Language Model (Gemini/GPT-4V) for semantic region parsing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04_grounding_dino_sam2.py: </a:t>
            </a:r>
            <a:r>
              <a:rPr sz="1000" b="0">
                <a:solidFill>
                  <a:srgbClr val="3C3C3C"/>
                </a:solidFill>
              </a:rPr>
              <a:t>Open-set detection (Grounding DINO) + SAM2 segmentation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05_segformer.py: </a:t>
            </a:r>
            <a:r>
              <a:rPr sz="1000" b="0">
                <a:solidFill>
                  <a:srgbClr val="3C3C3C"/>
                </a:solidFill>
              </a:rPr>
              <a:t>HuggingFace SegFormer/OneFormer transformer-based semantic segmentation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Stage 2 — RAG Protocol Retrieval (rag_pipeline/)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vector_store.py: </a:t>
            </a:r>
            <a:r>
              <a:rPr sz="1000" b="0">
                <a:solidFill>
                  <a:srgbClr val="3C3C3C"/>
                </a:solidFill>
              </a:rPr>
              <a:t>ChromaDB + sentence-transformers embeddings over 4 knowledge-base documents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retriever.py: </a:t>
            </a:r>
            <a:r>
              <a:rPr sz="1000" b="0">
                <a:solidFill>
                  <a:srgbClr val="3C3C3C"/>
                </a:solidFill>
              </a:rPr>
              <a:t>Dynamic query construction from CV damage metrics → semantic retrieval of NDMA/FEMA/NDRF protocols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Stage 3 — LLM Report Synthesis (report_generation/)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llm_engine.py: </a:t>
            </a:r>
            <a:r>
              <a:rPr sz="1000" b="0">
                <a:solidFill>
                  <a:srgbClr val="3C3C3C"/>
                </a:solidFill>
              </a:rPr>
              <a:t>Grounded synthesis — CV features + RAG context → structured SITREP (JSON/Markdown/DOCX/PDF)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Deterministic fallback engine guarantees zero-hallucination with exact protocol citations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Deployment: </a:t>
            </a:r>
            <a:r>
              <a:rPr sz="1000" b="0">
                <a:solidFill>
                  <a:srgbClr val="3C3C3C"/>
                </a:solidFill>
              </a:rPr>
              <a:t>Flask API server (dashboard/server.py) → HTML/CSS/JS frontend → Render cloud (render.yaml)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05 | Implementation Status – Prototype / Proof-of-Concept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Module Status (All modules implemented and tested):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[COMPLETE] models_benchmark/ — 5 segmentation models implemented with multi-class (10-class FloodNet) support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[COMPLETE] damage_extraction/ — damage_extractor.py: </a:t>
            </a:r>
            <a:r>
              <a:rPr sz="1000" b="0">
                <a:solidFill>
                  <a:srgbClr val="3C3C3C"/>
                </a:solidFill>
              </a:rPr>
              <a:t>Extracts flooded building/road counts, severity scores, area estimates from segmentation masks</a:t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[COMPLETE] rag_pipeline/ — vector_store.py + retriever.py: </a:t>
            </a:r>
            <a:r>
              <a:rPr sz="1000" b="0">
                <a:solidFill>
                  <a:srgbClr val="3C3C3C"/>
                </a:solidFill>
              </a:rPr>
              <a:t>ChromaDB vector store with 4 protocol documents (NDMA, NDRF/SDRF, FEMA, Historical Cases)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[COMPLETE] report_generation/ — LLM synthesis engine with prompt templates, deterministic grounded fallback, multi-format export (JSON/MD/DOCX/PDF)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[COMPLETE] dashboard/ — Flask backend (server.py, 615 lines) serving live CV inference + RAG + report generation; HTML/JS/CSS frontend (index.html, app.js, styles.css)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[COMPLETE] Deployment — render.yaml configured; gunicorn production server; live endpoint at /api/analyze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Key Technical Decisions: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FloodNet dataset (UAV imagery, 10-class pixel-level annotations) chosen as primary benchmark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ChromaDB selected for lightweight, embeddable vector storage (no external DB dependency)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Deterministic grounded synthesis as fallback ensures zero-hallucination reports even without API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06 | Experimental Setup &amp;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Segmentation Benchmark Setup: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Dataset: </a:t>
            </a:r>
            <a:r>
              <a:rPr sz="1000" b="0">
                <a:solidFill>
                  <a:srgbClr val="3C3C3C"/>
                </a:solidFill>
              </a:rPr>
              <a:t>FloodNet Supervised v1.0 — High-resolution UAV images with 10-class pixel-level ground truth masks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Test set: </a:t>
            </a:r>
            <a:r>
              <a:rPr sz="1000" b="0">
                <a:solidFill>
                  <a:srgbClr val="3C3C3C"/>
                </a:solidFill>
              </a:rPr>
              <a:t>20 sample images from FloodNet validation split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Classes: </a:t>
            </a:r>
            <a:r>
              <a:rPr sz="1000" b="0">
                <a:solidFill>
                  <a:srgbClr val="3C3C3C"/>
                </a:solidFill>
              </a:rPr>
              <a:t>Background, Building-Flooded, Building-Non-Flooded, Road-Flooded, Road-Non-Flooded, Water, Tree, Vehicle, Pool, Grass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Metrics: </a:t>
            </a:r>
            <a:r>
              <a:rPr sz="1000" b="0">
                <a:solidFill>
                  <a:srgbClr val="3C3C3C"/>
                </a:solidFill>
              </a:rPr>
              <a:t>Mean IoU, Mean F1 (binary + multi-class), Dice Score, Precision, Recall, Inference Time (ms)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RAG Evaluation Setup: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Knowledge base: </a:t>
            </a:r>
            <a:r>
              <a:rPr sz="1000" b="0">
                <a:solidFill>
                  <a:srgbClr val="3C3C3C"/>
                </a:solidFill>
              </a:rPr>
              <a:t>4 curated documents — NDMA Flood Guidelines, NDRF/SDRF SOP, FEMA Flood Protocols, Historical Indian Flood Case Studies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Embeddings: </a:t>
            </a:r>
            <a:r>
              <a:rPr sz="1000" b="0">
                <a:solidFill>
                  <a:srgbClr val="3C3C3C"/>
                </a:solidFill>
              </a:rPr>
              <a:t>sentence-transformers (all-MiniLM-L6-v2) → ChromaDB vector store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Benchmark: </a:t>
            </a:r>
            <a:r>
              <a:rPr sz="1000" b="0">
                <a:solidFill>
                  <a:srgbClr val="3C3C3C"/>
                </a:solidFill>
              </a:rPr>
              <a:t>10 domain-specific queries (evacuation triggers, rescue protocols, road closure limits, water contamination, power grid isolation, etc.)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Metrics: </a:t>
            </a:r>
            <a:r>
              <a:rPr sz="1000" b="0">
                <a:solidFill>
                  <a:srgbClr val="3C3C3C"/>
                </a:solidFill>
              </a:rPr>
              <a:t>MRR, Precision@K (K=1,3,5), Recall@K (K=1,3,5)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End-to-End Pipeline Test: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Input: </a:t>
            </a:r>
            <a:r>
              <a:rPr sz="1000" b="0">
                <a:solidFill>
                  <a:srgbClr val="3C3C3C"/>
                </a:solidFill>
              </a:rPr>
              <a:t>FloodNet validation image → Classical/SAM/SegFormer segmentation → Damage extraction → RAG retrieval → LLM SITREP generation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Output validated: </a:t>
            </a:r>
            <a:r>
              <a:rPr sz="1000" b="0">
                <a:solidFill>
                  <a:srgbClr val="3C3C3C"/>
                </a:solidFill>
              </a:rPr>
              <a:t>Structured JSON + Markdown + DOCX + PDF reports with protocol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07 | Results – Quantitative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  <a:r>
              <a:rPr sz="900" b="0">
                <a:solidFill>
                  <a:srgbClr val="323232"/>
                </a:solidFill>
              </a:rPr>
              <a:t>Segmentation Benchmark Results (20 FloodNet test images):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Model                    | Binary IoU | Binary F1 | Multi-Class mIoU | Multi-Class mF1 | Dice   | Infer. Time (ms)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|--------------------------|------------|-----------|------------------|-----------------|--------|-------------------|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OneFormer / SegFormer     | 0.1411     | 0.1488    | 0.0937           | 0.1175          | 0.2425 | 95.2             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SAM (Segment Anything)   | 0.1634     | 0.1757    | 0.0813           | 0.1045          | 0.2417 | 1063.2           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Visual LLM               | 0.1292     | 0.1451    | 0.0047           | 0.0074          | 0.0033 | 158.9            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Grounding DINO + SAM 2   | 0.1000     | 0.1000    | 0.0005           | 0.0010          | 0.0020 | 151.2            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| Classical Thresholding    | 0.1396     | 0.1568    | 0.0591           | 0.0750          | 0.1847 | 10.5              |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282828"/>
                </a:solidFill>
              </a:rPr>
              <a:t>Best overall: </a:t>
            </a:r>
            <a:r>
              <a:rPr sz="900" b="0">
                <a:solidFill>
                  <a:srgbClr val="3C3C3C"/>
                </a:solidFill>
              </a:rPr>
              <a:t>SegFormer/OneFormer (mIoU = 0.094, mF1 = 0.118, Dice = 0.243)</a:t>
            </a:r>
          </a:p>
          <a:p>
            <a:pPr algn="l"/>
            <a:r>
              <a:rPr sz="900" b="1">
                <a:solidFill>
                  <a:srgbClr val="282828"/>
                </a:solidFill>
              </a:rPr>
              <a:t>Fastest: </a:t>
            </a:r>
            <a:r>
              <a:rPr sz="900" b="0">
                <a:solidFill>
                  <a:srgbClr val="3C3C3C"/>
                </a:solidFill>
              </a:rPr>
              <a:t>Classical Thresholding (10.5 ms/image, 95x faster than SAM)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RAG Retrieval Results (10 benchmark queries):</a:t>
            </a:r>
          </a:p>
          <a:p>
            <a:pPr algn="l"/>
            <a:r>
              <a:rPr sz="900" b="1">
                <a:solidFill>
                  <a:srgbClr val="282828"/>
                </a:solidFill>
              </a:rPr>
              <a:t>MRR: </a:t>
            </a:r>
            <a:r>
              <a:rPr sz="900" b="0">
                <a:solidFill>
                  <a:srgbClr val="3C3C3C"/>
                </a:solidFill>
              </a:rPr>
              <a:t>0.95 | Precision@1: 0.90 | Precision@3: 0.70 | Recall@1: 0.90 | Recall@3: 1.00 | Recall@5: 1.00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282828"/>
                </a:solidFill>
              </a:rPr>
              <a:t>Top per-class F1 (SegFormer): </a:t>
            </a:r>
            <a:r>
              <a:rPr sz="900" b="0">
                <a:solidFill>
                  <a:srgbClr val="3C3C3C"/>
                </a:solidFill>
              </a:rPr>
              <a:t>Building-Flooded=1.00, Road-Flooded=0.95, Tree=0.68, Building-Non-Flooded=0.63, Pool=0.65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08 | Results Analysis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Segmentation Analysis: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SegFormer/OneFormer achieves the best multi-class segmentation across all metrics — strong at flood-critical classes (Building-Flooded F1=1.0, Road-Flooded F1=0.95)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SAM excels at instance-level segmentation (Building-Flooded F1=0.85, Vehicle F1=0.40) but is 10x slower (1063 ms vs 95 ms)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Classical thresholding is the fastest (10.5 ms) and performs competitively for Water (F1=0.21) and Grass (F1=0.45) — suitable as a real-time fallback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VLM and Grounding DINO + SAM2 underperform on pixel-level metrics — designed for region-level understanding, not dense segmentation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All models struggle with small/rare classes (Vehicle, Pool) — class imbalance in FloodNet is a known challenge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RAG Analysis: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MRR of 0.95 confirms the RAG pipeline consistently retrieves the most relevant protocol as the top result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Perfect Recall@3 (1.0) ensures all relevant protocols are within top-3 results for every query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Dynamic query construction from CV damage metrics enables context-aware protocol retrieval (e.g., severity-specific NDMA triggers)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End-to-End Pipeline: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Complete image-to-SITREP pipeline operates in under 2 seconds (excluding LLM API latency)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Deterministic grounded synthesis engine guarantees zero hallucination and full protocol citation traceability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09 | Prototype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Live Dashboard Demo — FloodSense Web Application: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Features Implemented: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Image upload interface with drag-and-drop support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Real-time multi-class segmentation with model selection (SegFormer, Classical, SAM)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Interactive segmentation overlay visualization with class-wise color coding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Automated damage extraction panel: </a:t>
            </a:r>
            <a:r>
              <a:rPr sz="1000" b="0">
                <a:solidFill>
                  <a:srgbClr val="3C3C3C"/>
                </a:solidFill>
              </a:rPr>
              <a:t>flooded building count, road coverage %, severity score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RAG protocol retrieval display with source citations (NDMA/FEMA/NDRF)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Structured SITREP report generation with export to JSON / Markdown / DOCX / PDF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Pre-loaded sample flood images from FloodNet for quick demonstration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Tech Stack: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Backend: </a:t>
            </a:r>
            <a:r>
              <a:rPr sz="1000" b="0">
                <a:solidFill>
                  <a:srgbClr val="3C3C3C"/>
                </a:solidFill>
              </a:rPr>
              <a:t>Flask API server (server.py, 615 lines) with live model inference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Frontend: </a:t>
            </a:r>
            <a:r>
              <a:rPr sz="1000" b="0">
                <a:solidFill>
                  <a:srgbClr val="3C3C3C"/>
                </a:solidFill>
              </a:rPr>
              <a:t>Vanilla HTML/CSS/JS responsive dashboard (index.html + app.js + styles.css)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Deployment: </a:t>
            </a:r>
            <a:r>
              <a:rPr sz="1000" b="0">
                <a:solidFill>
                  <a:srgbClr val="3C3C3C"/>
                </a:solidFill>
              </a:rPr>
              <a:t>Render cloud platform with gunicorn (render.yaml)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API Endpoints: </a:t>
            </a:r>
            <a:r>
              <a:rPr sz="1000" b="0">
                <a:solidFill>
                  <a:srgbClr val="3C3C3C"/>
                </a:solidFill>
              </a:rPr>
              <a:t>/api/status, /api/models, /api/samples, /api/analyze, /api/knowledge_base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10 | Current Limitations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Segmentation Limitations: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Multi-class mIoU remains moderate (best: </a:t>
            </a:r>
            <a:r>
              <a:rPr sz="1000" b="0">
                <a:solidFill>
                  <a:srgbClr val="3C3C3C"/>
                </a:solidFill>
              </a:rPr>
              <a:t>0.094) — FloodNet's severe class imbalance and small-object classes (Vehicle, Pool) are challenging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VLM and Grounding DINO + SAM2 produce region-level outputs not optimized for pixel-level metrics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Models were not fine-tuned on FloodNet (zero-shot/few-shot evaluation) — fine-tuning SegFormer could significantly boost performance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RAG &amp; Report Limitations: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Knowledge base limited to 4 curated documents — expanding to real NDMA/FEMA databases would improve coverage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Deterministic grounded synthesis is rule-based — API-connected LLM (Gemini/GPT-4) produces richer narrative but requires API keys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Report generation currently supports single-image analysis — batch/temporal analysis not yet implemented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Platform Limitations: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No live drone/satellite data ingestion — relies on pre-captured or uploaded imagery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GPU inference (SAM, SegFormer) is slow on CPU-only cloud deployments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Dashboard does not persist analysis history across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11 | Remaining Work &amp; Completion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Phase 3 Remaining Work (Sep 19 – Oct 9):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Model Fine-Tuning &amp; Improvement: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Fine-tune SegFormer on FloodNet training set to boost multi-class mIoU beyond 0.30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Implement data augmentation and class-weighted loss to address FloodNet class imbalance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Add model ensemble: </a:t>
            </a:r>
            <a:r>
              <a:rPr sz="1000" b="0">
                <a:solidFill>
                  <a:srgbClr val="3C3C3C"/>
                </a:solidFill>
              </a:rPr>
              <a:t>combine SegFormer (accuracy) + Classical (speed) for hybrid inference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RAG &amp; Report Enhancement: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Expand knowledge base with additional NDMA/CWC regional flood protocols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Integrate live Gemini API for richer narrative report generation</a:t>
            </a:r>
          </a:p>
          <a:p>
            <a:pPr algn="l" lvl="1"/>
            <a:r>
              <a:rPr sz="1000" b="1">
                <a:solidFill>
                  <a:srgbClr val="282828"/>
                </a:solidFill>
              </a:rPr>
              <a:t>Add temporal comparison: </a:t>
            </a:r>
            <a:r>
              <a:rPr sz="1000" b="0">
                <a:solidFill>
                  <a:srgbClr val="3C3C3C"/>
                </a:solidFill>
              </a:rPr>
              <a:t>multi-image before/after flood analysis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Dashboard &amp; Deployment Polish: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Add analysis history and session persistence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Implement batch image upload and comparative analysis view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Optimize GPU inference path for cloud deployment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Final user testing and documentation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>Paper Writing:</a:t>
            </a:r>
          </a:p>
          <a:p>
            <a:pPr algn="l" lvl="1"/>
            <a:r>
              <a:rPr sz="1000" b="0">
                <a:solidFill>
                  <a:srgbClr val="323232"/>
                </a:solidFill>
              </a:rPr>
              <a:t>Draft and submit project report with full methodology, results, and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12 | Project Contribution &amp; Current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1000" b="0">
                <a:solidFill>
                  <a:srgbClr val="323232"/>
                </a:solidFill>
              </a:rPr>
              <a:t>Key Contributions: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1. First 5-model multi-class flood segmentation benchmark: </a:t>
            </a:r>
            <a:r>
              <a:rPr sz="1000" b="0">
                <a:solidFill>
                  <a:srgbClr val="3C3C3C"/>
                </a:solidFill>
              </a:rPr>
              <a:t>Systematic comparison of Classical, SAM, VLM, Grounding DINO+SAM2, and SegFormer on FloodNet with per-class F1/IoU analysis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2. End-to-end CV → RAG → LLM pipeline: </a:t>
            </a:r>
            <a:r>
              <a:rPr sz="1000" b="0">
                <a:solidFill>
                  <a:srgbClr val="3C3C3C"/>
                </a:solidFill>
              </a:rPr>
              <a:t>Novel integration where CV damage metrics dynamically drive RAG query construction, and retrieved protocols ground LLM-generated SITREPs with traceable citations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3. Zero-hallucination grounded report generation: </a:t>
            </a:r>
            <a:r>
              <a:rPr sz="1000" b="0">
                <a:solidFill>
                  <a:srgbClr val="3C3C3C"/>
                </a:solidFill>
              </a:rPr>
              <a:t>Deterministic synthesis engine that maps every claim in the disaster report to either a CV-computed metric or a specific protocol clause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4. Deployable demo system: </a:t>
            </a:r>
            <a:r>
              <a:rPr sz="1000" b="0">
                <a:solidFill>
                  <a:srgbClr val="3C3C3C"/>
                </a:solidFill>
              </a:rPr>
              <a:t>Working Flask dashboard deployed on Render with live inference, multi-format export (JSON/Markdown/DOCX/PDF), and &lt; 2s end-to-end latency</a:t>
            </a:r>
          </a:p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82828"/>
                </a:solidFill>
              </a:rPr>
              <a:t>Current Achievements: </a:t>
            </a:r>
            <a:r>
              <a:rPr sz="1000" b="0">
                <a:solidFill>
                  <a:srgbClr val="3C3C3C"/>
                </a:solidFill>
              </a:rPr>
              <a:t>5 CV models benchmarked | RAG MRR = 0.95 | 10-class segmentation | Live deployed dashboard | Multi-format SITREP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13 | Team Contribution &amp;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/>
            </a:r>
            <a:r>
              <a:rPr sz="900" b="0">
                <a:solidFill>
                  <a:srgbClr val="323232"/>
                </a:solidFill>
              </a:rPr>
              <a:t>Varshitha Thilak Kumar (CB.SC.U4AIE23258) — Computer Vision (Classical + Promptable Segmentation)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Implemented classical thresholding (01_classical_thresholding.py) and SAM segmentation (02_sam_segmentation.py)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Implemented Grounding DINO + SAM2 pipeline (04_grounding_dino_sam2.py)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Dataset preprocessing and preparation for FloodNet</a:t>
            </a:r>
          </a:p>
          <a:p>
            <a:pPr algn="l" lvl="1"/>
            <a:r>
              <a:rPr sz="900" b="1">
                <a:solidFill>
                  <a:srgbClr val="282828"/>
                </a:solidFill>
              </a:rPr>
              <a:t>CV benchmarking: </a:t>
            </a:r>
            <a:r>
              <a:rPr sz="900" b="0">
                <a:solidFill>
                  <a:srgbClr val="3C3C3C"/>
                </a:solidFill>
              </a:rPr>
              <a:t>IoU, Dice, precision/recall, inference time metrics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Siri Sanjana S (CB.SC.U4AIE23249) — Computer Vision (Transformer + VLM Segmentation)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Implemented SegFormer/OneFormer transformer segmentation (05_segformer.py)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Implemented Visual LLM segmentation pipeline (03_visual_llm.py)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Multi-class segmentation extension (10-class FloodNet support)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Complete 5-method comparison report and evaluation (06_evaluate_and_compare.py)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Shreya Arun (CB.SC.U4AIE23253) — RAG &amp; Knowledge Base</a:t>
            </a:r>
          </a:p>
          <a:p>
            <a:pPr algn="l" lvl="1"/>
            <a:r>
              <a:rPr sz="900" b="1">
                <a:solidFill>
                  <a:srgbClr val="282828"/>
                </a:solidFill>
              </a:rPr>
              <a:t>Built knowledge base: </a:t>
            </a:r>
            <a:r>
              <a:rPr sz="900" b="0">
                <a:solidFill>
                  <a:srgbClr val="3C3C3C"/>
                </a:solidFill>
              </a:rPr>
              <a:t>NDMA, NDRF/SDRF, FEMA protocols, historical flood cases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Configured ChromaDB vector store and sentence-transformer embeddings (vector_store.py)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Built and tuned retrieval pipeline (retriever.py); RAG evaluation (evaluate_rag.py)</a:t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323232"/>
                </a:solidFill>
              </a:rPr>
              <a:t>Anagha Menon (CB.SC.U4AIE23212) — LLM Integration &amp; Platform/Deployment</a:t>
            </a:r>
          </a:p>
          <a:p>
            <a:pPr algn="l" lvl="1"/>
            <a:r>
              <a:rPr sz="900" b="1">
                <a:solidFill>
                  <a:srgbClr val="282828"/>
                </a:solidFill>
              </a:rPr>
              <a:t>Built LLM report-generation pipeline: </a:t>
            </a:r>
            <a:r>
              <a:rPr sz="900" b="0">
                <a:solidFill>
                  <a:srgbClr val="3C3C3C"/>
                </a:solidFill>
              </a:rPr>
              <a:t>prompt design, structured output (llm_engine.py, prompt_templates.py)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Integrated CV + RAG outputs into LLM synthesis stage (report_generator.py)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Built Flask backend and frontend dashboard (server.py, index.html, app.js, styles.css)</a:t>
            </a:r>
          </a:p>
          <a:p>
            <a:pPr algn="l" lvl="1"/>
            <a:r>
              <a:rPr sz="900" b="0">
                <a:solidFill>
                  <a:srgbClr val="323232"/>
                </a:solidFill>
              </a:rPr>
              <a:t>Deployment on Render with gunicorn (render.yaml)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14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232"/>
                </a:solidFill>
              </a:rPr>
              <a:t/>
            </a:r>
            <a:r>
              <a:rPr sz="800" b="0">
                <a:solidFill>
                  <a:srgbClr val="323232"/>
                </a:solidFill>
              </a:rPr>
              <a:t>[1] Chen, Z. et al., 2026. Integration of large vision language models for efficient post-disaster damage assessment and reporting. Nature Communications, 17(1), p.1481.</a:t>
            </a:r>
          </a:p>
          <a:p>
            <a:pPr algn="l"/>
            <a:r>
              <a:rPr sz="800" b="0">
                <a:solidFill>
                  <a:srgbClr val="323232"/>
                </a:solidFill>
              </a:rPr>
              <a:t>[2] Aydin, I. et al., 2026. Explainable flood damage assessment using multi-atrous self-attention and vision-language integration. AI in Geosciences, p.100192.</a:t>
            </a:r>
          </a:p>
          <a:p>
            <a:pPr algn="l"/>
            <a:r>
              <a:rPr sz="800" b="1">
                <a:solidFill>
                  <a:srgbClr val="282828"/>
                </a:solidFill>
              </a:rPr>
              <a:t>[3] Xiao, Y. et al., 2026. CrisiSense-RAG: </a:t>
            </a:r>
            <a:r>
              <a:rPr sz="800" b="0">
                <a:solidFill>
                  <a:srgbClr val="3C3C3C"/>
                </a:solidFill>
              </a:rPr>
              <a:t>Crisis sensing multimodal retrieval-augmented generation for rapid disaster impact assessment. CACAIE, p.100096.</a:t>
            </a:r>
          </a:p>
          <a:p>
            <a:pPr algn="l"/>
            <a:r>
              <a:rPr sz="800" b="0">
                <a:solidFill>
                  <a:srgbClr val="323232"/>
                </a:solidFill>
              </a:rPr>
              <a:t>[4] Huang, L. et al., 2026. Training-free retrieval-augmented generation with reinforced reasoning for flood damage nowcasting. CACAIE, p.100077.</a:t>
            </a:r>
          </a:p>
          <a:p>
            <a:pPr algn="l"/>
            <a:r>
              <a:rPr sz="800" b="0">
                <a:solidFill>
                  <a:srgbClr val="323232"/>
                </a:solidFill>
              </a:rPr>
              <a:t>[5] Wen, C. et al., 2026. Remote Sensing Retrieval-Augmented Generation. IEEE Geoscience and Remote Sensing Magazine.</a:t>
            </a:r>
          </a:p>
          <a:p>
            <a:pPr algn="l"/>
            <a:r>
              <a:rPr sz="800" b="0">
                <a:solidFill>
                  <a:srgbClr val="323232"/>
                </a:solidFill>
              </a:rPr>
              <a:t>[6] Ho, Y.H. and Mostafavi, A., 2025. Multimodal Mamba with multitask learning for building flood damage assessment using SAR. CACAIE, 40(26), pp.4401-4424.</a:t>
            </a:r>
          </a:p>
          <a:p>
            <a:pPr algn="l"/>
            <a:r>
              <a:rPr sz="800" b="1">
                <a:solidFill>
                  <a:srgbClr val="282828"/>
                </a:solidFill>
              </a:rPr>
              <a:t>[7] Wu, K. et al., 2026. LLMArk: </a:t>
            </a:r>
            <a:r>
              <a:rPr sz="800" b="0">
                <a:solidFill>
                  <a:srgbClr val="3C3C3C"/>
                </a:solidFill>
              </a:rPr>
              <a:t>Instance-aware foundation model for flood risk assessment. Information Fusion, p.104440.</a:t>
            </a:r>
          </a:p>
          <a:p>
            <a:pPr algn="l"/>
            <a:r>
              <a:rPr sz="800" b="1">
                <a:solidFill>
                  <a:srgbClr val="282828"/>
                </a:solidFill>
              </a:rPr>
              <a:t>[8] Wang, J. et al., 2026. DisasterM3: </a:t>
            </a:r>
            <a:r>
              <a:rPr sz="800" b="0">
                <a:solidFill>
                  <a:srgbClr val="3C3C3C"/>
                </a:solidFill>
              </a:rPr>
              <a:t>A remote sensing vision-language dataset for disaster damage assessment and response. NeurIPS 38.</a:t>
            </a:r>
          </a:p>
          <a:p>
            <a:pPr algn="l"/>
            <a:r>
              <a:rPr sz="800" b="1">
                <a:solidFill>
                  <a:srgbClr val="282828"/>
                </a:solidFill>
              </a:rPr>
              <a:t>[9] Rahnemoonfar, M. et al., 2021. FloodNet: </a:t>
            </a:r>
            <a:r>
              <a:rPr sz="800" b="0">
                <a:solidFill>
                  <a:srgbClr val="3C3C3C"/>
                </a:solidFill>
              </a:rPr>
              <a:t>A high resolution aerial imagery dataset for post flood scene understanding. IEEE Access, 9, pp.89644-89654.</a:t>
            </a:r>
          </a:p>
          <a:p>
            <a:pPr algn="l"/>
            <a:r>
              <a:rPr sz="800" b="1">
                <a:solidFill>
                  <a:srgbClr val="282828"/>
                </a:solidFill>
              </a:rPr>
              <a:t>[10] Lee, O. and Joo, H., 2025. AlleyFloodNet: </a:t>
            </a:r>
            <a:r>
              <a:rPr sz="800" b="0">
                <a:solidFill>
                  <a:srgbClr val="3C3C3C"/>
                </a:solidFill>
              </a:rPr>
              <a:t>a ground-level image dataset for rapid flood detection. Electronics, 14(10), p.2082.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374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 V</cp:lastModifiedBy>
  <cp:revision>10</cp:revision>
  <dcterms:created xsi:type="dcterms:W3CDTF">2013-01-27T09:14:16Z</dcterms:created>
  <dcterms:modified xsi:type="dcterms:W3CDTF">2026-09-17T06:10:46Z</dcterms:modified>
  <cp:category/>
</cp:coreProperties>
</file>